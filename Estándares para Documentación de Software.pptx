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TT Ramillas" panose="020B0604020202020204" charset="0"/>
      <p:regular r:id="rId17"/>
    </p:embeddedFont>
    <p:embeddedFont>
      <p:font typeface="TT Ramillas Bold" panose="020B0604020202020204" charset="0"/>
      <p:regular r:id="rId18"/>
    </p:embeddedFont>
    <p:embeddedFont>
      <p:font typeface="TT Ramillas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329" y="2991051"/>
            <a:ext cx="12077341" cy="2928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5"/>
              </a:lnSpc>
            </a:pPr>
            <a:r>
              <a:rPr lang="en-US" sz="6767">
                <a:solidFill>
                  <a:srgbClr val="F5F3F3"/>
                </a:solidFill>
                <a:latin typeface="TT Ramillas"/>
                <a:ea typeface="TT Ramillas"/>
                <a:cs typeface="TT Ramillas"/>
                <a:sym typeface="TT Ramillas"/>
              </a:rPr>
              <a:t>ESTÁNDARES IEEE, ISO Y W3C</a:t>
            </a:r>
          </a:p>
          <a:p>
            <a:pPr marL="0" lvl="0" indent="0" algn="ctr">
              <a:lnSpc>
                <a:spcPts val="7715"/>
              </a:lnSpc>
            </a:pPr>
            <a:r>
              <a:rPr lang="en-US" sz="6767">
                <a:solidFill>
                  <a:srgbClr val="F5F3F3"/>
                </a:solidFill>
                <a:latin typeface="TT Ramillas"/>
                <a:ea typeface="TT Ramillas"/>
                <a:cs typeface="TT Ramillas"/>
                <a:sym typeface="TT Ramillas"/>
              </a:rPr>
              <a:t>PARA DOCUMENTACIÓN DE SOFTWARE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227392" y="6710760"/>
            <a:ext cx="11955278" cy="1186477"/>
            <a:chOff x="0" y="0"/>
            <a:chExt cx="4241545" cy="4209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41545" cy="420943"/>
            </a:xfrm>
            <a:custGeom>
              <a:avLst/>
              <a:gdLst/>
              <a:ahLst/>
              <a:cxnLst/>
              <a:rect l="l" t="t" r="r" b="b"/>
              <a:pathLst>
                <a:path w="4241545" h="420943">
                  <a:moveTo>
                    <a:pt x="0" y="0"/>
                  </a:moveTo>
                  <a:lnTo>
                    <a:pt x="4241545" y="0"/>
                  </a:lnTo>
                  <a:lnTo>
                    <a:pt x="4241545" y="420943"/>
                  </a:lnTo>
                  <a:lnTo>
                    <a:pt x="0" y="42094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41545" cy="459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12297" y="6743544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731731" y="8582433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3" y="0"/>
                </a:lnTo>
                <a:lnTo>
                  <a:pt x="2304583" y="1760125"/>
                </a:lnTo>
                <a:lnTo>
                  <a:pt x="0" y="1760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rot="-10800000">
            <a:off x="15470036" y="-85725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86005" y="-6962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4144369" y="8469828"/>
            <a:ext cx="3607289" cy="1817172"/>
          </a:xfrm>
          <a:custGeom>
            <a:avLst/>
            <a:gdLst/>
            <a:ahLst/>
            <a:cxnLst/>
            <a:rect l="l" t="t" r="r" b="b"/>
            <a:pathLst>
              <a:path w="3607289" h="1817172">
                <a:moveTo>
                  <a:pt x="0" y="0"/>
                </a:moveTo>
                <a:lnTo>
                  <a:pt x="3607289" y="0"/>
                </a:lnTo>
                <a:lnTo>
                  <a:pt x="3607289" y="1817172"/>
                </a:lnTo>
                <a:lnTo>
                  <a:pt x="0" y="1817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3503345" y="6985735"/>
            <a:ext cx="11403371" cy="524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58"/>
              </a:lnSpc>
              <a:spcBef>
                <a:spcPct val="0"/>
              </a:spcBef>
            </a:pPr>
            <a:r>
              <a:rPr lang="en-US" sz="3112" i="1" dirty="0" err="1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Módulo</a:t>
            </a:r>
            <a:r>
              <a:rPr lang="en-US" sz="3112" i="1" dirty="0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: </a:t>
            </a:r>
            <a:r>
              <a:rPr lang="en-US" sz="3112" i="1" dirty="0" err="1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Elaboración</a:t>
            </a:r>
            <a:r>
              <a:rPr lang="en-US" sz="3112" i="1" dirty="0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 de </a:t>
            </a:r>
            <a:r>
              <a:rPr lang="en-US" sz="3112" i="1" dirty="0" err="1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documentación</a:t>
            </a:r>
            <a:r>
              <a:rPr lang="en-US" sz="3112" i="1" dirty="0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 de </a:t>
            </a:r>
            <a:r>
              <a:rPr lang="en-US" sz="3112" i="1" dirty="0" err="1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sistemas</a:t>
            </a:r>
            <a:r>
              <a:rPr lang="en-US" sz="3112" i="1" dirty="0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 </a:t>
            </a:r>
            <a:r>
              <a:rPr lang="en-US" sz="3112" i="1" dirty="0" err="1">
                <a:solidFill>
                  <a:srgbClr val="094C69"/>
                </a:solidFill>
                <a:latin typeface="TT Ramillas Italics"/>
                <a:ea typeface="TT Ramillas Italics"/>
                <a:cs typeface="TT Ramillas Italics"/>
                <a:sym typeface="TT Ramillas Italics"/>
              </a:rPr>
              <a:t>informáticos</a:t>
            </a:r>
            <a:endParaRPr lang="en-US" sz="3112" i="1" dirty="0">
              <a:solidFill>
                <a:srgbClr val="094C69"/>
              </a:solidFill>
              <a:latin typeface="TT Ramillas Italics"/>
              <a:ea typeface="TT Ramillas Italics"/>
              <a:cs typeface="TT Ramillas Italics"/>
              <a:sym typeface="TT Ramillas Italics"/>
            </a:endParaRPr>
          </a:p>
        </p:txBody>
      </p:sp>
      <p:sp>
        <p:nvSpPr>
          <p:cNvPr id="12" name="Freeform 12"/>
          <p:cNvSpPr/>
          <p:nvPr/>
        </p:nvSpPr>
        <p:spPr>
          <a:xfrm rot="-10800000">
            <a:off x="848639" y="-35485"/>
            <a:ext cx="3607289" cy="1817172"/>
          </a:xfrm>
          <a:custGeom>
            <a:avLst/>
            <a:gdLst/>
            <a:ahLst/>
            <a:cxnLst/>
            <a:rect l="l" t="t" r="r" b="b"/>
            <a:pathLst>
              <a:path w="3607289" h="1817172">
                <a:moveTo>
                  <a:pt x="0" y="0"/>
                </a:moveTo>
                <a:lnTo>
                  <a:pt x="3607289" y="0"/>
                </a:lnTo>
                <a:lnTo>
                  <a:pt x="3607289" y="1817172"/>
                </a:lnTo>
                <a:lnTo>
                  <a:pt x="0" y="1817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64782" y="5618245"/>
            <a:ext cx="12157537" cy="337406"/>
            <a:chOff x="0" y="0"/>
            <a:chExt cx="3201985" cy="888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01985" cy="88864"/>
            </a:xfrm>
            <a:custGeom>
              <a:avLst/>
              <a:gdLst/>
              <a:ahLst/>
              <a:cxnLst/>
              <a:rect l="l" t="t" r="r" b="b"/>
              <a:pathLst>
                <a:path w="3201985" h="88864">
                  <a:moveTo>
                    <a:pt x="0" y="0"/>
                  </a:moveTo>
                  <a:lnTo>
                    <a:pt x="3201985" y="0"/>
                  </a:lnTo>
                  <a:lnTo>
                    <a:pt x="3201985" y="88864"/>
                  </a:lnTo>
                  <a:lnTo>
                    <a:pt x="0" y="88864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201985" cy="126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8049277" y="2114127"/>
            <a:ext cx="2186149" cy="2155358"/>
          </a:xfrm>
          <a:custGeom>
            <a:avLst/>
            <a:gdLst/>
            <a:ahLst/>
            <a:cxnLst/>
            <a:rect l="l" t="t" r="r" b="b"/>
            <a:pathLst>
              <a:path w="2186149" h="2155358">
                <a:moveTo>
                  <a:pt x="0" y="0"/>
                </a:moveTo>
                <a:lnTo>
                  <a:pt x="2186149" y="0"/>
                </a:lnTo>
                <a:lnTo>
                  <a:pt x="2186149" y="2155358"/>
                </a:lnTo>
                <a:lnTo>
                  <a:pt x="0" y="2155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79224" y="4337605"/>
            <a:ext cx="13129553" cy="99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66"/>
              </a:lnSpc>
              <a:spcBef>
                <a:spcPct val="0"/>
              </a:spcBef>
            </a:pPr>
            <a:r>
              <a:rPr lang="en-US" sz="6812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INTRODUCCIÓN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92759" y="6156744"/>
            <a:ext cx="9902481" cy="1090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68"/>
              </a:lnSpc>
              <a:spcBef>
                <a:spcPct val="0"/>
              </a:spcBef>
            </a:pPr>
            <a:r>
              <a:rPr lang="en-US" sz="294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¿Qué es la documentación de software?</a:t>
            </a:r>
          </a:p>
          <a:p>
            <a:pPr marL="0" lvl="0" indent="0" algn="ctr">
              <a:lnSpc>
                <a:spcPts val="4468"/>
              </a:lnSpc>
              <a:spcBef>
                <a:spcPct val="0"/>
              </a:spcBef>
            </a:pPr>
            <a:r>
              <a:rPr lang="en-US" sz="294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¿Por qué es esencial para desarrolladores y usuarios?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536" y="2577726"/>
            <a:ext cx="11581777" cy="7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91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ESTÁNDAR IEEE 830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9536" y="3869785"/>
            <a:ext cx="10458051" cy="407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 IEEE 830 es el estándar para la Especificación de Requerimientos de Software (SRS), proporcionando una guía estructurada para documentar las necesidades del sistema.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Contenido principal: Define requisitos funcionales (qué debe hacer el sistema), requisitos no funcionales (rendimiento, seguridad, usabilidad) y restricciones técnicas del proyecto.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Ejemplo aplicado - Sistema de Inventario: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RF: Registrar entradas y salidas de productos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RNF: Tiempo de respuesta menor a 2 segundos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Restricción: Compatible con base de datos MySQL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536" y="2577726"/>
            <a:ext cx="11581777" cy="7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91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ESTÁNDAR IEEE 1016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9536" y="3869785"/>
            <a:ext cx="10458051" cy="36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 IEEE 1016 es el estándar para la descripción del diseño de software, proporcionando una estructura organizada para documentar la arquitectura y componentes de un sistema.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Elementos clave del estándar: arquitectura del sistema, diagramas de diseño, descripción de componentes, especificación de interfaces y relaciones entre módulos.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Relación con el ciclo de vida: se aplica durante la fase de diseño, conectando los requerimientos (IEEE 830) con la implementación, facilitando el mantenimiento y la evolución del software.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536" y="2587251"/>
            <a:ext cx="11581777" cy="70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6"/>
              </a:lnSpc>
              <a:spcBef>
                <a:spcPct val="0"/>
              </a:spcBef>
            </a:pPr>
            <a:r>
              <a:rPr lang="en-US" sz="49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ESTÁNDAR W3C WCAG 2.1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9536" y="3860260"/>
            <a:ext cx="10458051" cy="5326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Accesibilidad web: Diseño de sitios y aplicaciones que todas las personas puedan usar, incluyendo aquellas con discapacidades visuales, auditivas, motoras o cognitivas.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Cuatro principios fundamentales: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Perceptible: Contenido presentado de formas que todos puedan percibir (contraste de colores, texto alternativo para imágenes)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Operable: Interfaces navegables por diferentes métodos (teclado, voz, dispositivos asistivos)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Comprensible: Información y operación claras y predecibles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Robusto: Compatible con tecnologías asistivas actuales y futuras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Ejemplos prácticos de implementación: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Contraste mínimo de 4.5:1 entre texto y fondo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Atributos alt descriptivos en todas las imágenes</a:t>
            </a:r>
          </a:p>
          <a:p>
            <a:pPr marL="0" lvl="0" indent="0" algn="l">
              <a:lnSpc>
                <a:spcPts val="3044"/>
              </a:lnSpc>
            </a:pPr>
            <a:r>
              <a:rPr lang="en-US" sz="2174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Navegación completa mediante teclado sin depender del ratón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43698" y="4112361"/>
            <a:ext cx="5227663" cy="888605"/>
            <a:chOff x="0" y="0"/>
            <a:chExt cx="1858746" cy="315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41579" y="4112361"/>
            <a:ext cx="5227663" cy="888605"/>
            <a:chOff x="0" y="0"/>
            <a:chExt cx="1858746" cy="3159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46359" y="9657397"/>
            <a:ext cx="20580718" cy="1930377"/>
            <a:chOff x="0" y="0"/>
            <a:chExt cx="5420436" cy="5084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0436" cy="508412"/>
            </a:xfrm>
            <a:custGeom>
              <a:avLst/>
              <a:gdLst/>
              <a:ahLst/>
              <a:cxnLst/>
              <a:rect l="l" t="t" r="r" b="b"/>
              <a:pathLst>
                <a:path w="5420436" h="508412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343698" y="2406385"/>
            <a:ext cx="11625544" cy="99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61"/>
              </a:lnSpc>
              <a:spcBef>
                <a:spcPct val="0"/>
              </a:spcBef>
            </a:pPr>
            <a:r>
              <a:rPr lang="en-US" sz="6808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TABLA COMPARATIVA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4555" y="5325863"/>
            <a:ext cx="5481711" cy="375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IEEE 1016: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Objetivo: Describir diseño del software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Uso: Arquitectura y componentes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Beneficiarios: Arquitectos, desarrolladores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W3C WCAG 2.1: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Objetivo: Garantizar accesibilidad web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Uso: Interfaces accesibles para todos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Beneficiarios: Usuarios con discapacidades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33140" y="4241140"/>
            <a:ext cx="4844541" cy="55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08"/>
              </a:lnSpc>
              <a:spcBef>
                <a:spcPct val="0"/>
              </a:spcBef>
            </a:pPr>
            <a:r>
              <a:rPr lang="en-US" sz="3097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IEEE 1016 / W3C WCAG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1734" y="5325863"/>
            <a:ext cx="5628785" cy="333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Objetivo: Especificar requerimientos de software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Uso: Documentación de requisitos funcionales y no funcionales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Tipo: Especificación técnica de requerimientos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Beneficiarios: Desarrolladores, analistas, clientes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3041" y="4238845"/>
            <a:ext cx="4154043" cy="55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08"/>
              </a:lnSpc>
              <a:spcBef>
                <a:spcPct val="0"/>
              </a:spcBef>
            </a:pPr>
            <a:r>
              <a:rPr lang="en-US" sz="3097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IEEE 830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79547"/>
            <a:chOff x="0" y="0"/>
            <a:chExt cx="24384000" cy="3306063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38106" b="38106"/>
            <a:stretch>
              <a:fillRect/>
            </a:stretch>
          </p:blipFill>
          <p:spPr>
            <a:xfrm>
              <a:off x="0" y="0"/>
              <a:ext cx="24384000" cy="3306063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821755" y="3721279"/>
            <a:ext cx="587725" cy="4768749"/>
            <a:chOff x="0" y="0"/>
            <a:chExt cx="154792" cy="12559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4792" cy="1255967"/>
            </a:xfrm>
            <a:custGeom>
              <a:avLst/>
              <a:gdLst/>
              <a:ahLst/>
              <a:cxnLst/>
              <a:rect l="l" t="t" r="r" b="b"/>
              <a:pathLst>
                <a:path w="154792" h="1255967">
                  <a:moveTo>
                    <a:pt x="0" y="0"/>
                  </a:moveTo>
                  <a:lnTo>
                    <a:pt x="154792" y="0"/>
                  </a:lnTo>
                  <a:lnTo>
                    <a:pt x="154792" y="1255967"/>
                  </a:lnTo>
                  <a:lnTo>
                    <a:pt x="0" y="1255967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4792" cy="1294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42906" y="3873322"/>
            <a:ext cx="10353970" cy="99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61"/>
              </a:lnSpc>
              <a:spcBef>
                <a:spcPct val="0"/>
              </a:spcBef>
            </a:pPr>
            <a:r>
              <a:rPr lang="en-US" sz="6808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CASO DE ESTUDIO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42906" y="5612808"/>
            <a:ext cx="11845770" cy="3658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Sistema de Control de Inventario del Instituto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Problemas detectados: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Falta de documentación clara y actualizada del sistema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Errores frecuentes en el registro de entradas y salidas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Dificultad para rastrear el historial de movimientos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Necesidades del usuario: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Información accesible y fácil de consultar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Reportes actualizados en tiempo real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Interfaz intuitiva para personal no técnico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Información relevante para nuevos desarrolladores: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Estructura de la base de datos sin documentar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Flujos de trabajo no especificados</a:t>
            </a:r>
          </a:p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Ausencia de diagramas de arquitectura del sistema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2173" y="4114244"/>
            <a:ext cx="4137001" cy="888605"/>
            <a:chOff x="0" y="0"/>
            <a:chExt cx="1470951" cy="315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42174" y="4114244"/>
            <a:ext cx="4137001" cy="888605"/>
            <a:chOff x="0" y="0"/>
            <a:chExt cx="1470951" cy="3159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22176" y="4123632"/>
            <a:ext cx="4137001" cy="888605"/>
            <a:chOff x="0" y="0"/>
            <a:chExt cx="1470951" cy="3159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227909" y="2142358"/>
            <a:ext cx="1444086" cy="1687333"/>
          </a:xfrm>
          <a:custGeom>
            <a:avLst/>
            <a:gdLst/>
            <a:ahLst/>
            <a:cxnLst/>
            <a:rect l="l" t="t" r="r" b="b"/>
            <a:pathLst>
              <a:path w="1444086" h="1687333">
                <a:moveTo>
                  <a:pt x="0" y="0"/>
                </a:moveTo>
                <a:lnTo>
                  <a:pt x="1444086" y="0"/>
                </a:lnTo>
                <a:lnTo>
                  <a:pt x="1444086" y="1687333"/>
                </a:lnTo>
                <a:lnTo>
                  <a:pt x="0" y="1687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49909" y="2387547"/>
            <a:ext cx="1879945" cy="1640914"/>
          </a:xfrm>
          <a:custGeom>
            <a:avLst/>
            <a:gdLst/>
            <a:ahLst/>
            <a:cxnLst/>
            <a:rect l="l" t="t" r="r" b="b"/>
            <a:pathLst>
              <a:path w="1879945" h="1640914">
                <a:moveTo>
                  <a:pt x="0" y="0"/>
                </a:moveTo>
                <a:lnTo>
                  <a:pt x="1879945" y="0"/>
                </a:lnTo>
                <a:lnTo>
                  <a:pt x="1879945" y="1640915"/>
                </a:lnTo>
                <a:lnTo>
                  <a:pt x="0" y="1640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176273" y="1848887"/>
            <a:ext cx="2052924" cy="1921823"/>
          </a:xfrm>
          <a:custGeom>
            <a:avLst/>
            <a:gdLst/>
            <a:ahLst/>
            <a:cxnLst/>
            <a:rect l="l" t="t" r="r" b="b"/>
            <a:pathLst>
              <a:path w="2052924" h="1921823">
                <a:moveTo>
                  <a:pt x="0" y="0"/>
                </a:moveTo>
                <a:lnTo>
                  <a:pt x="2052924" y="0"/>
                </a:lnTo>
                <a:lnTo>
                  <a:pt x="2052924" y="1921823"/>
                </a:lnTo>
                <a:lnTo>
                  <a:pt x="0" y="19218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55146" y="4271585"/>
            <a:ext cx="3751055" cy="35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86"/>
              </a:lnSpc>
              <a:spcBef>
                <a:spcPct val="0"/>
              </a:spcBef>
            </a:pPr>
            <a:r>
              <a:rPr lang="en-US" sz="2443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MALA DOCUMENTACIÓN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62173" y="5398854"/>
            <a:ext cx="4137001" cy="178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Información incompleta o desactualizada, falta de estructura clara, ausencia de estándares definidos, documentos dispersos sin organización central.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6046" y="4278547"/>
            <a:ext cx="3709257" cy="35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86"/>
              </a:lnSpc>
              <a:spcBef>
                <a:spcPct val="0"/>
              </a:spcBef>
            </a:pPr>
            <a:r>
              <a:rPr lang="en-US" sz="2443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FALTA DE CAPACITACIÓN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42174" y="5398854"/>
            <a:ext cx="4137001" cy="215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Personal sin conocimiento de estándares IEEE/ISO, desconocimiento de herramientas de documentación, falta de formación en metodologías de recolección de información.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4442" y="4271448"/>
            <a:ext cx="3552468" cy="36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13"/>
              </a:lnSpc>
              <a:spcBef>
                <a:spcPct val="0"/>
              </a:spcBef>
            </a:pPr>
            <a:r>
              <a:rPr lang="en-US" sz="2468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ERRORES DEL SISTEMA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2176" y="5446479"/>
            <a:ext cx="4137001" cy="178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Falta de manuales técnicos, ausencia de guías de usuario, sin registro de cambios ni versiones, carencia de diagramas UML y especificaciones técnicas.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43698" y="4112361"/>
            <a:ext cx="5227663" cy="888605"/>
            <a:chOff x="0" y="0"/>
            <a:chExt cx="1858746" cy="315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41579" y="4112361"/>
            <a:ext cx="5227663" cy="888605"/>
            <a:chOff x="0" y="0"/>
            <a:chExt cx="1858746" cy="3159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46359" y="9657397"/>
            <a:ext cx="20580718" cy="1930377"/>
            <a:chOff x="0" y="0"/>
            <a:chExt cx="5420436" cy="5084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0436" cy="508412"/>
            </a:xfrm>
            <a:custGeom>
              <a:avLst/>
              <a:gdLst/>
              <a:ahLst/>
              <a:cxnLst/>
              <a:rect l="l" t="t" r="r" b="b"/>
              <a:pathLst>
                <a:path w="5420436" h="508412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343698" y="2387335"/>
            <a:ext cx="11625544" cy="1193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12"/>
              </a:lnSpc>
              <a:spcBef>
                <a:spcPct val="0"/>
              </a:spcBef>
            </a:pPr>
            <a:r>
              <a:rPr lang="en-US" sz="413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DOCUMENTACIÓN TÉCNICA VS MANUAL DE USUARIO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4555" y="5325863"/>
            <a:ext cx="5481711" cy="250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Público objetivo: Usuarios finales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Lenguaje: Claro y sencillo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Contenido: Instrucciones de uso, capturas, FAQ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Objetivo: Guiar al usuario en el uso del sistema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33140" y="4260190"/>
            <a:ext cx="4844541" cy="51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88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Manual de Usuario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1734" y="5325863"/>
            <a:ext cx="5628785" cy="250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Público objetivo: Desarrolladores y técnicos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Lenguaje: Técnico y especializado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Contenido: Arquitectura, código, APIs, diagramas UML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Objetivo: Facilitar mantenimiento y desarrollo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3041" y="4257895"/>
            <a:ext cx="4154043" cy="511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88"/>
              </a:lnSpc>
              <a:spcBef>
                <a:spcPct val="0"/>
              </a:spcBef>
            </a:pPr>
            <a:r>
              <a:rPr lang="en-US" sz="2886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Documentación Técnica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43698" y="4112361"/>
            <a:ext cx="5227663" cy="888605"/>
            <a:chOff x="0" y="0"/>
            <a:chExt cx="1858746" cy="315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41579" y="4112361"/>
            <a:ext cx="5227663" cy="888605"/>
            <a:chOff x="0" y="0"/>
            <a:chExt cx="1858746" cy="3159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8746" cy="315952"/>
            </a:xfrm>
            <a:custGeom>
              <a:avLst/>
              <a:gdLst/>
              <a:ahLst/>
              <a:cxnLst/>
              <a:rect l="l" t="t" r="r" b="b"/>
              <a:pathLst>
                <a:path w="1858746" h="315952">
                  <a:moveTo>
                    <a:pt x="0" y="0"/>
                  </a:moveTo>
                  <a:lnTo>
                    <a:pt x="1858746" y="0"/>
                  </a:lnTo>
                  <a:lnTo>
                    <a:pt x="1858746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8746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46359" y="9657397"/>
            <a:ext cx="20580718" cy="1930377"/>
            <a:chOff x="0" y="0"/>
            <a:chExt cx="5420436" cy="5084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0436" cy="508412"/>
            </a:xfrm>
            <a:custGeom>
              <a:avLst/>
              <a:gdLst/>
              <a:ahLst/>
              <a:cxnLst/>
              <a:rect l="l" t="t" r="r" b="b"/>
              <a:pathLst>
                <a:path w="5420436" h="508412">
                  <a:moveTo>
                    <a:pt x="0" y="0"/>
                  </a:moveTo>
                  <a:lnTo>
                    <a:pt x="5420436" y="0"/>
                  </a:lnTo>
                  <a:lnTo>
                    <a:pt x="5420436" y="508412"/>
                  </a:lnTo>
                  <a:lnTo>
                    <a:pt x="0" y="508412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0436" cy="546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3343698" y="2396860"/>
            <a:ext cx="11625544" cy="944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14"/>
              </a:lnSpc>
              <a:spcBef>
                <a:spcPct val="0"/>
              </a:spcBef>
            </a:pPr>
            <a:r>
              <a:rPr lang="en-US" sz="6415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ENTREVISTA ESTRUCTURADA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4555" y="5325863"/>
            <a:ext cx="5481711" cy="375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Prepara preguntas estructuradas previamente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Escucha activamente y documenta respuestas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Clarifica dudas y profundiza en detalles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Preguntas clave: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¿Quiénes usarán el sistema?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¿Qué datos son críticos?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¿Cuáles son las restricciones técnicas?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33140" y="4260190"/>
            <a:ext cx="4844541" cy="46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578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Rol del Analista/Documentador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1734" y="5325863"/>
            <a:ext cx="5628785" cy="375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Proporciona información sobre necesidades reales del sistema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Describe procesos actuales y problemas frecuentes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Valida requisitos y expectativas</a:t>
            </a:r>
          </a:p>
          <a:p>
            <a:pPr marL="0" lvl="0" indent="0" algn="ctr">
              <a:lnSpc>
                <a:spcPts val="3341"/>
              </a:lnSpc>
              <a:spcBef>
                <a:spcPct val="0"/>
              </a:spcBef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• Preguntas clave: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¿Qué funciones necesita el sistema?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¿Qué problemas enfrenta actualmente?</a:t>
            </a:r>
          </a:p>
          <a:p>
            <a:pPr marL="474646" lvl="1" indent="-237323" algn="ctr">
              <a:lnSpc>
                <a:spcPts val="3341"/>
              </a:lnSpc>
              <a:spcBef>
                <a:spcPct val="0"/>
              </a:spcBef>
              <a:buFont typeface="Arial"/>
              <a:buChar char="•"/>
            </a:pPr>
            <a:r>
              <a:rPr lang="en-US" sz="2198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¿Cómo debería verse la información?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3041" y="4257895"/>
            <a:ext cx="4154043" cy="46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578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Rol del Cliente/Usuario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2173" y="4114244"/>
            <a:ext cx="4137001" cy="888605"/>
            <a:chOff x="0" y="0"/>
            <a:chExt cx="1470951" cy="315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42174" y="4114244"/>
            <a:ext cx="4137001" cy="888605"/>
            <a:chOff x="0" y="0"/>
            <a:chExt cx="1470951" cy="3159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22176" y="4123632"/>
            <a:ext cx="4137001" cy="888605"/>
            <a:chOff x="0" y="0"/>
            <a:chExt cx="1470951" cy="3159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0951" cy="315952"/>
            </a:xfrm>
            <a:custGeom>
              <a:avLst/>
              <a:gdLst/>
              <a:ahLst/>
              <a:cxnLst/>
              <a:rect l="l" t="t" r="r" b="b"/>
              <a:pathLst>
                <a:path w="1470951" h="315952">
                  <a:moveTo>
                    <a:pt x="0" y="0"/>
                  </a:moveTo>
                  <a:lnTo>
                    <a:pt x="1470951" y="0"/>
                  </a:lnTo>
                  <a:lnTo>
                    <a:pt x="1470951" y="315952"/>
                  </a:lnTo>
                  <a:lnTo>
                    <a:pt x="0" y="315952"/>
                  </a:lnTo>
                  <a:close/>
                </a:path>
              </a:pathLst>
            </a:custGeom>
            <a:solidFill>
              <a:srgbClr val="094C6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70951" cy="354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954322" y="2262879"/>
            <a:ext cx="1958505" cy="1508774"/>
          </a:xfrm>
          <a:custGeom>
            <a:avLst/>
            <a:gdLst/>
            <a:ahLst/>
            <a:cxnLst/>
            <a:rect l="l" t="t" r="r" b="b"/>
            <a:pathLst>
              <a:path w="1958505" h="1508774">
                <a:moveTo>
                  <a:pt x="0" y="0"/>
                </a:moveTo>
                <a:lnTo>
                  <a:pt x="1958504" y="0"/>
                </a:lnTo>
                <a:lnTo>
                  <a:pt x="1958504" y="1508774"/>
                </a:lnTo>
                <a:lnTo>
                  <a:pt x="0" y="1508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44265" y="2276539"/>
            <a:ext cx="1879945" cy="1635400"/>
          </a:xfrm>
          <a:custGeom>
            <a:avLst/>
            <a:gdLst/>
            <a:ahLst/>
            <a:cxnLst/>
            <a:rect l="l" t="t" r="r" b="b"/>
            <a:pathLst>
              <a:path w="1879945" h="1635400">
                <a:moveTo>
                  <a:pt x="0" y="0"/>
                </a:moveTo>
                <a:lnTo>
                  <a:pt x="1879945" y="0"/>
                </a:lnTo>
                <a:lnTo>
                  <a:pt x="1879945" y="1635399"/>
                </a:lnTo>
                <a:lnTo>
                  <a:pt x="0" y="1635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10014" y="2107817"/>
            <a:ext cx="1410265" cy="1771957"/>
          </a:xfrm>
          <a:custGeom>
            <a:avLst/>
            <a:gdLst/>
            <a:ahLst/>
            <a:cxnLst/>
            <a:rect l="l" t="t" r="r" b="b"/>
            <a:pathLst>
              <a:path w="1410265" h="1771957">
                <a:moveTo>
                  <a:pt x="0" y="0"/>
                </a:moveTo>
                <a:lnTo>
                  <a:pt x="1410265" y="0"/>
                </a:lnTo>
                <a:lnTo>
                  <a:pt x="1410265" y="1771956"/>
                </a:lnTo>
                <a:lnTo>
                  <a:pt x="0" y="1771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55146" y="4262060"/>
            <a:ext cx="3751055" cy="42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5"/>
              </a:lnSpc>
              <a:spcBef>
                <a:spcPct val="0"/>
              </a:spcBef>
            </a:pPr>
            <a:r>
              <a:rPr lang="en-US" sz="2838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MANUAL DE USUARIO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62173" y="5398854"/>
            <a:ext cx="4137001" cy="215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Documento esencial que guía al usuario final en el uso del sistema. Incluye instrucciones paso a paso, capturas de pantalla y solución de problemas comunes para facilitar la experiencia.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6046" y="4269022"/>
            <a:ext cx="3709257" cy="42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5"/>
              </a:lnSpc>
              <a:spcBef>
                <a:spcPct val="0"/>
              </a:spcBef>
            </a:pPr>
            <a:r>
              <a:rPr lang="en-US" sz="2838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MANUAL TÉCNICO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42174" y="5398854"/>
            <a:ext cx="4137001" cy="215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Documentación detallada para desarrolladores y administradores. Contiene arquitectura del sistema, base de datos, diagramas UML, guía de instalación y especificaciones técnicas completas.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4442" y="4280973"/>
            <a:ext cx="3552468" cy="49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7"/>
              </a:lnSpc>
              <a:spcBef>
                <a:spcPct val="0"/>
              </a:spcBef>
            </a:pPr>
            <a:r>
              <a:rPr lang="en-US" sz="3383">
                <a:solidFill>
                  <a:srgbClr val="FFFFFF"/>
                </a:solidFill>
                <a:latin typeface="TT Ramillas"/>
                <a:ea typeface="TT Ramillas"/>
                <a:cs typeface="TT Ramillas"/>
                <a:sym typeface="TT Ramillas"/>
              </a:rPr>
              <a:t>DIAGRAMAS UML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2176" y="5446479"/>
            <a:ext cx="4137001" cy="215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88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Representaciones visuales del sistema: diagramas de casos de uso, clases, secuencia y entidad-relación. Facilitan la comprensión de la estructura y comportamiento del software.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32168" y="3564946"/>
            <a:ext cx="2947558" cy="2947558"/>
            <a:chOff x="0" y="0"/>
            <a:chExt cx="3930077" cy="39300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930077" cy="3930077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94C69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93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44521" y="144528"/>
              <a:ext cx="3641035" cy="3641020"/>
              <a:chOff x="0" y="0"/>
              <a:chExt cx="6350000" cy="63499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</p:sp>
        </p:grpSp>
      </p:grpSp>
      <p:grpSp>
        <p:nvGrpSpPr>
          <p:cNvPr id="8" name="Group 8"/>
          <p:cNvGrpSpPr/>
          <p:nvPr/>
        </p:nvGrpSpPr>
        <p:grpSpPr>
          <a:xfrm>
            <a:off x="7981172" y="3564946"/>
            <a:ext cx="2947558" cy="2947558"/>
            <a:chOff x="0" y="0"/>
            <a:chExt cx="3930077" cy="393007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3930077" cy="3930077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94C69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93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125514" y="144528"/>
              <a:ext cx="3641035" cy="3641020"/>
              <a:chOff x="0" y="0"/>
              <a:chExt cx="6350000" cy="634997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12301035" y="3564946"/>
            <a:ext cx="2947558" cy="2947558"/>
            <a:chOff x="0" y="0"/>
            <a:chExt cx="3930077" cy="393007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3930077" cy="3930077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94C69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93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144521" y="144528"/>
              <a:ext cx="3641035" cy="3641020"/>
              <a:chOff x="0" y="0"/>
              <a:chExt cx="6350000" cy="63499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4239973" y="1943571"/>
            <a:ext cx="10373041" cy="88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26"/>
              </a:lnSpc>
              <a:spcBef>
                <a:spcPct val="0"/>
              </a:spcBef>
            </a:pPr>
            <a:r>
              <a:rPr lang="en-US" sz="5987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ORGANIZACIÓN DEL EQUIPO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81015" y="7031578"/>
            <a:ext cx="4049864" cy="52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0"/>
              </a:lnSpc>
              <a:spcBef>
                <a:spcPct val="0"/>
              </a:spcBef>
            </a:pPr>
            <a:r>
              <a:rPr lang="en-US" sz="3136" b="1" u="none" strike="noStrike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Ana García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01139" y="7706296"/>
            <a:ext cx="3449789" cy="41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Líder Técnico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6629" y="7032587"/>
            <a:ext cx="4115452" cy="528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0"/>
              </a:lnSpc>
              <a:spcBef>
                <a:spcPct val="0"/>
              </a:spcBef>
            </a:pPr>
            <a:r>
              <a:rPr lang="en-US" sz="3136" b="1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Carlos Mendoza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3527" y="7706296"/>
            <a:ext cx="3449789" cy="41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Redactor Técnico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17830" y="7031578"/>
            <a:ext cx="3954141" cy="528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0"/>
              </a:lnSpc>
              <a:spcBef>
                <a:spcPct val="0"/>
              </a:spcBef>
            </a:pPr>
            <a:r>
              <a:rPr lang="en-US" sz="3136" b="1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Laura Sánchez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70006" y="7706296"/>
            <a:ext cx="3449789" cy="41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11"/>
              </a:lnSpc>
              <a:spcBef>
                <a:spcPct val="0"/>
              </a:spcBef>
            </a:pPr>
            <a:r>
              <a:rPr lang="en-US" sz="2436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Diseñadora de Manuales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536" y="2577726"/>
            <a:ext cx="11581777" cy="7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91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CRONOGRAMA DEL PROYECTO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9536" y="3869785"/>
            <a:ext cx="10458051" cy="36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Fase 1: Investigación y Recolección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Análisis de requerimientos, entrevistas con usuarios, revisión de estándares IEEE e ISO, y recopilación de información del sistema actual.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Fase 2: Diseño y Desarrollo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Creación de la estructura documental, elaboración de manuales técnicos y de usuario, diseño de diagramas UML y documentación de arquitectura.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Fase 3: Revisión y Entrega Final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Control de calidad, validación con usuarios, correcciones finales y entrega oficial de toda la documentación del proyecto.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9536" y="2577726"/>
            <a:ext cx="11581777" cy="71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00"/>
              </a:lnSpc>
              <a:spcBef>
                <a:spcPct val="0"/>
              </a:spcBef>
            </a:pPr>
            <a:r>
              <a:rPr lang="en-US" sz="4913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CONCLUSIONES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19536" y="3869785"/>
            <a:ext cx="10458051" cy="36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Seguir estándares como IEEE 830, IEEE 1016 y W3C WCAG 2.1 garantiza documentación clara, completa y profesional, facilitando el desarrollo, mantenimiento y accesibilidad del software.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Una buena documentación reduce errores, mejora la comunicación entre equipos, facilita la capacitación de nuevos desarrolladores y asegura que los usuarios finales puedan utilizar el sistema de manera efectiva.</a:t>
            </a:r>
          </a:p>
          <a:p>
            <a:pPr marL="0" lvl="0" indent="0" algn="l">
              <a:lnSpc>
                <a:spcPts val="3232"/>
              </a:lnSpc>
            </a:pPr>
            <a:r>
              <a:rPr lang="en-US" sz="2309">
                <a:solidFill>
                  <a:srgbClr val="000000"/>
                </a:solidFill>
                <a:latin typeface="TT Ramillas"/>
                <a:ea typeface="TT Ramillas"/>
                <a:cs typeface="TT Ramillas"/>
                <a:sym typeface="TT Ramillas"/>
              </a:rPr>
              <a:t>El trabajo en equipo es fundamental: la colaboración entre líderes técnicos, redactores, diseñadores y revisores de calidad asegura documentos precisos, bien estructurados y de alto valor para el proyecto.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7930" y="-535143"/>
            <a:ext cx="3020465" cy="11934400"/>
            <a:chOff x="0" y="0"/>
            <a:chExt cx="795514" cy="3143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5514" cy="3143216"/>
            </a:xfrm>
            <a:custGeom>
              <a:avLst/>
              <a:gdLst/>
              <a:ahLst/>
              <a:cxnLst/>
              <a:rect l="l" t="t" r="r" b="b"/>
              <a:pathLst>
                <a:path w="795514" h="3143216">
                  <a:moveTo>
                    <a:pt x="0" y="0"/>
                  </a:moveTo>
                  <a:lnTo>
                    <a:pt x="795514" y="0"/>
                  </a:lnTo>
                  <a:lnTo>
                    <a:pt x="795514" y="3143216"/>
                  </a:lnTo>
                  <a:lnTo>
                    <a:pt x="0" y="3143216"/>
                  </a:lnTo>
                  <a:close/>
                </a:path>
              </a:pathLst>
            </a:custGeom>
            <a:solidFill>
              <a:srgbClr val="094C6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95514" cy="31813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5452394" y="-293807"/>
            <a:ext cx="2339986" cy="3677778"/>
          </a:xfrm>
          <a:custGeom>
            <a:avLst/>
            <a:gdLst/>
            <a:ahLst/>
            <a:cxnLst/>
            <a:rect l="l" t="t" r="r" b="b"/>
            <a:pathLst>
              <a:path w="2339986" h="3677778">
                <a:moveTo>
                  <a:pt x="0" y="0"/>
                </a:moveTo>
                <a:lnTo>
                  <a:pt x="2339986" y="0"/>
                </a:lnTo>
                <a:lnTo>
                  <a:pt x="2339986" y="3677778"/>
                </a:lnTo>
                <a:lnTo>
                  <a:pt x="0" y="3677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4068362" y="-215044"/>
            <a:ext cx="2304584" cy="1760126"/>
          </a:xfrm>
          <a:custGeom>
            <a:avLst/>
            <a:gdLst/>
            <a:ahLst/>
            <a:cxnLst/>
            <a:rect l="l" t="t" r="r" b="b"/>
            <a:pathLst>
              <a:path w="2304584" h="1760126">
                <a:moveTo>
                  <a:pt x="0" y="0"/>
                </a:moveTo>
                <a:lnTo>
                  <a:pt x="2304584" y="0"/>
                </a:lnTo>
                <a:lnTo>
                  <a:pt x="2304584" y="1760126"/>
                </a:lnTo>
                <a:lnTo>
                  <a:pt x="0" y="1760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57480" y="5537511"/>
            <a:ext cx="10373041" cy="9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44"/>
              </a:lnSpc>
              <a:spcBef>
                <a:spcPct val="0"/>
              </a:spcBef>
            </a:pPr>
            <a:r>
              <a:rPr lang="en-US" sz="6957" b="1" dirty="0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Gracias </a:t>
            </a:r>
            <a:r>
              <a:rPr lang="en-US" sz="6957" b="1" dirty="0" err="1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</a:t>
            </a:r>
            <a:r>
              <a:rPr lang="en-US" sz="6957" b="1" dirty="0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 </a:t>
            </a:r>
            <a:r>
              <a:rPr lang="en-US" sz="6957" b="1" dirty="0" err="1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su</a:t>
            </a:r>
            <a:r>
              <a:rPr lang="en-US" sz="6957" b="1" dirty="0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 </a:t>
            </a:r>
            <a:r>
              <a:rPr lang="en-US" sz="6957" b="1" dirty="0" err="1">
                <a:solidFill>
                  <a:srgbClr val="094C69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atención</a:t>
            </a:r>
            <a:endParaRPr lang="en-US" sz="6957" b="1" dirty="0">
              <a:solidFill>
                <a:srgbClr val="094C69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7918632" y="3777364"/>
            <a:ext cx="2450737" cy="1234559"/>
          </a:xfrm>
          <a:custGeom>
            <a:avLst/>
            <a:gdLst/>
            <a:ahLst/>
            <a:cxnLst/>
            <a:rect l="l" t="t" r="r" b="b"/>
            <a:pathLst>
              <a:path w="2450737" h="1234559">
                <a:moveTo>
                  <a:pt x="0" y="0"/>
                </a:moveTo>
                <a:lnTo>
                  <a:pt x="2450736" y="0"/>
                </a:lnTo>
                <a:lnTo>
                  <a:pt x="2450736" y="1234559"/>
                </a:lnTo>
                <a:lnTo>
                  <a:pt x="0" y="1234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1062</Words>
  <Application>Microsoft Office PowerPoint</Application>
  <PresentationFormat>Personalizado</PresentationFormat>
  <Paragraphs>116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TT Ramillas Bold</vt:lpstr>
      <vt:lpstr>Calibri</vt:lpstr>
      <vt:lpstr>TT Ramillas</vt:lpstr>
      <vt:lpstr>Arial</vt:lpstr>
      <vt:lpstr>TT Ramillas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Estándares para Documentación de Software</dc:title>
  <cp:lastModifiedBy>Usuario</cp:lastModifiedBy>
  <cp:revision>3</cp:revision>
  <dcterms:created xsi:type="dcterms:W3CDTF">2006-08-16T00:00:00Z</dcterms:created>
  <dcterms:modified xsi:type="dcterms:W3CDTF">2026-05-26T17:02:34Z</dcterms:modified>
  <dc:identifier>DAHKxoOTFJ8</dc:identifier>
</cp:coreProperties>
</file>